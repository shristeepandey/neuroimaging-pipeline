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Neuroimaging Data Analysis Pipeline</a:t>
            </a:r>
          </a:p>
          <a:p>
            <a:pPr algn="ctr">
              <a:spcBef>
                <a:spcPts val="1200"/>
              </a:spcBef>
              <a:defRPr sz="2200">
                <a:solidFill>
                  <a:srgbClr val="C8C8DC"/>
                </a:solidFill>
              </a:defRPr>
            </a:pPr>
            <a:r>
              <a:t>Shristee Pandey</a:t>
            </a:r>
            <a:br/>
            <a:r>
              <a:t>Neuroscientist &amp; Psychologist</a:t>
            </a:r>
            <a:br/>
            <a:r>
              <a:t>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0F0FF"/>
                </a:solidFill>
              </a:defRPr>
            </a:pPr>
            <a:r>
              <a:t>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1645920"/>
            <a:ext cx="91440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E6E6F5"/>
                </a:solidFill>
              </a:defRPr>
            </a:pPr>
            <a:r>
              <a:t>- Cognitive impairment affects millions globally with rising burden.</a:t>
            </a:r>
          </a:p>
          <a:p>
            <a:pPr>
              <a:spcAft>
                <a:spcPts val="1400"/>
              </a:spcAft>
              <a:defRPr sz="2000">
                <a:solidFill>
                  <a:srgbClr val="E6E6F5"/>
                </a:solidFill>
              </a:defRPr>
            </a:pPr>
            <a:r>
              <a:t>- Multi-modal neuroimaging data offers rich biomarkers but is complex to analyze.</a:t>
            </a:r>
          </a:p>
          <a:p>
            <a:pPr>
              <a:spcAft>
                <a:spcPts val="1400"/>
              </a:spcAft>
              <a:defRPr sz="2000">
                <a:solidFill>
                  <a:srgbClr val="E6E6F5"/>
                </a:solidFill>
              </a:defRPr>
            </a:pPr>
            <a:r>
              <a:t>- Need for reproducible, end-to-end pipelines integrating clinical + imaging data.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0F0FF"/>
                </a:solidFill>
              </a:defRPr>
            </a:pPr>
            <a:r>
              <a:t>Pipeline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1645920"/>
            <a:ext cx="91440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E6E6F5"/>
                </a:solidFill>
              </a:defRPr>
            </a:pPr>
            <a:r>
              <a:t>1. Data Preparation — synthetic clinical + fMRI data generator</a:t>
            </a:r>
          </a:p>
          <a:p>
            <a:pPr>
              <a:spcAft>
                <a:spcPts val="1400"/>
              </a:spcAft>
              <a:defRPr sz="2000">
                <a:solidFill>
                  <a:srgbClr val="E6E6F5"/>
                </a:solidFill>
              </a:defRPr>
            </a:pPr>
            <a:r>
              <a:t>2. Quality Control — automated integrity checks and outlier detection</a:t>
            </a:r>
          </a:p>
          <a:p>
            <a:pPr>
              <a:spcAft>
                <a:spcPts val="1400"/>
              </a:spcAft>
              <a:defRPr sz="2000">
                <a:solidFill>
                  <a:srgbClr val="E6E6F5"/>
                </a:solidFill>
              </a:defRPr>
            </a:pPr>
            <a:r>
              <a:t>3. Preprocessing — normalization, z-scoring, connectivity estimation</a:t>
            </a:r>
          </a:p>
          <a:p>
            <a:pPr>
              <a:spcAft>
                <a:spcPts val="1400"/>
              </a:spcAft>
              <a:defRPr sz="2000">
                <a:solidFill>
                  <a:srgbClr val="E6E6F5"/>
                </a:solidFill>
              </a:defRPr>
            </a:pPr>
            <a:r>
              <a:t>4. Statistical Analysis — descriptive stats, group comparisons, correlations</a:t>
            </a:r>
          </a:p>
          <a:p>
            <a:pPr>
              <a:spcAft>
                <a:spcPts val="1400"/>
              </a:spcAft>
              <a:defRPr sz="2000">
                <a:solidFill>
                  <a:srgbClr val="E6E6F5"/>
                </a:solidFill>
              </a:defRPr>
            </a:pPr>
            <a:r>
              <a:t>5. Predictive Modeling — Random Forest and Logistic Regression classifiers</a:t>
            </a:r>
          </a:p>
          <a:p>
            <a:pPr>
              <a:spcAft>
                <a:spcPts val="1400"/>
              </a:spcAft>
              <a:defRPr sz="2000">
                <a:solidFill>
                  <a:srgbClr val="E6E6F5"/>
                </a:solidFill>
              </a:defRPr>
            </a:pPr>
            <a:r>
              <a:t>6. Visualization — publication-ready plots and dashboards</a:t>
            </a:r>
          </a:p>
          <a:p>
            <a:pPr>
              <a:spcAft>
                <a:spcPts val="1400"/>
              </a:spcAft>
              <a:defRPr sz="2000">
                <a:solidFill>
                  <a:srgbClr val="E6E6F5"/>
                </a:solidFill>
              </a:defRPr>
            </a:pPr>
            <a:r>
              <a:t>7. Reporting — automated Markdown analysis report generation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0F0FF"/>
                </a:solidFill>
              </a:defRPr>
            </a:pPr>
            <a:r>
              <a:t>Dataset &amp; Demographics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E6E6F5"/>
                </a:solidFill>
              </a:defRPr>
            </a:pPr>
            <a:r>
              <a:t>Participants: 100</a:t>
            </a:r>
          </a:p>
          <a:p>
            <a:pPr>
              <a:spcAft>
                <a:spcPts val="1400"/>
              </a:spcAft>
              <a:defRPr sz="2000">
                <a:solidFill>
                  <a:srgbClr val="E6E6F5"/>
                </a:solidFill>
              </a:defRPr>
            </a:pPr>
            <a:r>
              <a:t>Age: 50.8 ± 21.1 years</a:t>
            </a:r>
          </a:p>
          <a:p>
            <a:pPr>
              <a:spcAft>
                <a:spcPts val="1400"/>
              </a:spcAft>
              <a:defRPr sz="2000">
                <a:solidFill>
                  <a:srgbClr val="E6E6F5"/>
                </a:solidFill>
              </a:defRPr>
            </a:pPr>
            <a:r>
              <a:t>Sex: 52 Male / 48 Female</a:t>
            </a:r>
          </a:p>
          <a:p>
            <a:pPr>
              <a:spcAft>
                <a:spcPts val="1400"/>
              </a:spcAft>
              <a:defRPr sz="2000">
                <a:solidFill>
                  <a:srgbClr val="E6E6F5"/>
                </a:solidFill>
              </a:defRPr>
            </a:pPr>
            <a:r>
              <a:t>Groups: Control (33), MCI (39), Dementia (28)</a:t>
            </a:r>
          </a:p>
          <a:p>
            <a:pPr>
              <a:spcAft>
                <a:spcPts val="1400"/>
              </a:spcAft>
              <a:defRPr sz="2000">
                <a:solidFill>
                  <a:srgbClr val="E6E6F5"/>
                </a:solidFill>
              </a:defRPr>
            </a:pPr>
            <a:r>
              <a:t>Data simulated from OASIS-like schema for reproducibility</a:t>
            </a:r>
          </a:p>
          <a:p>
            <a:pPr>
              <a:spcAft>
                <a:spcPts val="1400"/>
              </a:spcAft>
              <a:defRPr sz="2000">
                <a:solidFill>
                  <a:srgbClr val="E6E6F5"/>
                </a:solidFill>
              </a:defRPr>
            </a:pPr>
            <a:r>
              <a:t>Consists of clinical metrics, cognitive scores, and brain volumetrics</a:t>
            </a:r>
          </a:p>
        </p:txBody>
      </p:sp>
      <p:pic>
        <p:nvPicPr>
          <p:cNvPr id="4" name="Picture 3" descr="demograph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554480"/>
            <a:ext cx="4754880" cy="374903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0F0FF"/>
                </a:solidFill>
              </a:defRPr>
            </a:pPr>
            <a:r>
              <a:t>Clinical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E6E6F5"/>
                </a:solidFill>
              </a:defRPr>
            </a:pPr>
            <a:r>
              <a:t>Brain volume, hippocampal volume, MMSE, cognitive score</a:t>
            </a:r>
          </a:p>
          <a:p>
            <a:pPr>
              <a:spcAft>
                <a:spcPts val="1400"/>
              </a:spcAft>
              <a:defRPr sz="2000">
                <a:solidFill>
                  <a:srgbClr val="E6E6F5"/>
                </a:solidFill>
              </a:defRPr>
            </a:pPr>
            <a:r>
              <a:t>Preprocessing: missing-value imputation, encoding, normalization</a:t>
            </a:r>
          </a:p>
          <a:p>
            <a:pPr>
              <a:spcAft>
                <a:spcPts val="1400"/>
              </a:spcAft>
              <a:defRPr sz="2000">
                <a:solidFill>
                  <a:srgbClr val="E6E6F5"/>
                </a:solidFill>
              </a:defRPr>
            </a:pPr>
            <a:r>
              <a:t>Quality control passed for 98/100 participants</a:t>
            </a:r>
          </a:p>
          <a:p>
            <a:pPr>
              <a:spcAft>
                <a:spcPts val="1400"/>
              </a:spcAft>
              <a:defRPr sz="2000">
                <a:solidFill>
                  <a:srgbClr val="E6E6F5"/>
                </a:solidFill>
              </a:defRPr>
            </a:pPr>
            <a:r>
              <a:t>Computed per-group descriptive statistics and QC report</a:t>
            </a:r>
          </a:p>
        </p:txBody>
      </p:sp>
      <p:pic>
        <p:nvPicPr>
          <p:cNvPr id="4" name="Picture 3" descr="clinical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554480"/>
            <a:ext cx="4754880" cy="374903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0F0FF"/>
                </a:solidFill>
              </a:defRPr>
            </a:pPr>
            <a:r>
              <a:t>Statistical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1645920"/>
            <a:ext cx="91440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E6E6F5"/>
                </a:solidFill>
              </a:defRPr>
            </a:pPr>
            <a:r>
              <a:t>Group Comparison: Control vs. Patients</a:t>
            </a:r>
          </a:p>
          <a:p>
            <a:pPr>
              <a:spcAft>
                <a:spcPts val="1400"/>
              </a:spcAft>
              <a:defRPr sz="2000">
                <a:solidFill>
                  <a:srgbClr val="E6E6F5"/>
                </a:solidFill>
              </a:defRPr>
            </a:pPr>
            <a:r>
              <a:t>Independent samples t-tests with effect sizes</a:t>
            </a:r>
          </a:p>
          <a:p>
            <a:pPr>
              <a:spcAft>
                <a:spcPts val="1400"/>
              </a:spcAft>
              <a:defRPr sz="2000">
                <a:solidFill>
                  <a:srgbClr val="E6E6F5"/>
                </a:solidFill>
              </a:defRPr>
            </a:pPr>
            <a:r>
              <a:t>brain_volume_cm3: p=0.501, Cohen d=-0.14</a:t>
            </a:r>
          </a:p>
          <a:p>
            <a:pPr>
              <a:spcAft>
                <a:spcPts val="1400"/>
              </a:spcAft>
              <a:defRPr sz="2000">
                <a:solidFill>
                  <a:srgbClr val="E6E6F5"/>
                </a:solidFill>
              </a:defRPr>
            </a:pPr>
            <a:r>
              <a:t>hippocampal_volume_cm3: p=0.412, Cohen d=0.18</a:t>
            </a:r>
          </a:p>
          <a:p>
            <a:pPr>
              <a:spcAft>
                <a:spcPts val="1400"/>
              </a:spcAft>
              <a:defRPr sz="2000">
                <a:solidFill>
                  <a:srgbClr val="E6E6F5"/>
                </a:solidFill>
              </a:defRPr>
            </a:pPr>
            <a:r>
              <a:t>cognitive_score: p=0.854, Cohen d=0.04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0F0FF"/>
                </a:solidFill>
              </a:defRPr>
            </a:pPr>
            <a:r>
              <a:t>Predictive Modeling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E6E6F5"/>
                </a:solidFill>
              </a:defRPr>
            </a:pPr>
            <a:r>
              <a:t>Random Forest AUC: 0.285  Accuracy: 0.533</a:t>
            </a:r>
          </a:p>
          <a:p>
            <a:pPr>
              <a:spcAft>
                <a:spcPts val="1400"/>
              </a:spcAft>
              <a:defRPr sz="2000">
                <a:solidFill>
                  <a:srgbClr val="E6E6F5"/>
                </a:solidFill>
              </a:defRPr>
            </a:pPr>
            <a:r>
              <a:t>Logistic Regression AUC: 0.135  Accuracy: 0.600</a:t>
            </a:r>
          </a:p>
          <a:p>
            <a:pPr>
              <a:spcAft>
                <a:spcPts val="1400"/>
              </a:spcAft>
              <a:defRPr sz="2000">
                <a:solidFill>
                  <a:srgbClr val="E6E6F5"/>
                </a:solidFill>
              </a:defRPr>
            </a:pPr>
            <a:r>
              <a:t>Features: age, education years, brain volume, hippocampal volume</a:t>
            </a:r>
          </a:p>
          <a:p>
            <a:pPr>
              <a:spcAft>
                <a:spcPts val="1400"/>
              </a:spcAft>
              <a:defRPr sz="2000">
                <a:solidFill>
                  <a:srgbClr val="E6E6F5"/>
                </a:solidFill>
              </a:defRPr>
            </a:pPr>
            <a:r>
              <a:t>Stratified 70/30 train/test split with standardization</a:t>
            </a:r>
          </a:p>
        </p:txBody>
      </p:sp>
      <p:pic>
        <p:nvPicPr>
          <p:cNvPr id="4" name="Picture 3" descr="model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554480"/>
            <a:ext cx="4754880" cy="374903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0F0FF"/>
                </a:solidFill>
              </a:defRPr>
            </a:pPr>
            <a:r>
              <a:t>fMRI Connectivity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E6E6F5"/>
                </a:solidFill>
              </a:defRPr>
            </a:pPr>
            <a:r>
              <a:t>Regions: 68</a:t>
            </a:r>
          </a:p>
          <a:p>
            <a:pPr>
              <a:spcAft>
                <a:spcPts val="1400"/>
              </a:spcAft>
              <a:defRPr sz="2000">
                <a:solidFill>
                  <a:srgbClr val="E6E6F5"/>
                </a:solidFill>
              </a:defRPr>
            </a:pPr>
            <a:r>
              <a:t>Mean connectivity: 0.172</a:t>
            </a:r>
          </a:p>
          <a:p>
            <a:pPr>
              <a:spcAft>
                <a:spcPts val="1400"/>
              </a:spcAft>
              <a:defRPr sz="2000">
                <a:solidFill>
                  <a:srgbClr val="E6E6F5"/>
                </a:solidFill>
              </a:defRPr>
            </a:pPr>
            <a:r>
              <a:t>Clustering coefficient: 1.00</a:t>
            </a:r>
          </a:p>
          <a:p>
            <a:pPr>
              <a:spcAft>
                <a:spcPts val="1400"/>
              </a:spcAft>
              <a:defRPr sz="2000">
                <a:solidFill>
                  <a:srgbClr val="E6E6F5"/>
                </a:solidFill>
              </a:defRPr>
            </a:pPr>
            <a:r>
              <a:t>Global efficiency: 1.00</a:t>
            </a:r>
          </a:p>
          <a:p>
            <a:pPr>
              <a:spcAft>
                <a:spcPts val="1400"/>
              </a:spcAft>
              <a:defRPr sz="2000">
                <a:solidFill>
                  <a:srgbClr val="E6E6F5"/>
                </a:solidFill>
              </a:defRPr>
            </a:pPr>
            <a:r>
              <a:t>Connectivity matrices, thresholding, and graph metrics</a:t>
            </a:r>
          </a:p>
        </p:txBody>
      </p:sp>
      <p:pic>
        <p:nvPicPr>
          <p:cNvPr id="4" name="Picture 3" descr="connec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554480"/>
            <a:ext cx="4754880" cy="374903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0F0FF"/>
                </a:solidFill>
              </a:defRPr>
            </a:pPr>
            <a:r>
              <a:t>Dashboard &amp;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E6E6F5"/>
                </a:solidFill>
              </a:defRPr>
            </a:pPr>
            <a:r>
              <a:t>Interactive-style dashboard with demographics, clinical metrics, and correlations</a:t>
            </a:r>
          </a:p>
          <a:p>
            <a:pPr>
              <a:spcAft>
                <a:spcPts val="1400"/>
              </a:spcAft>
              <a:defRPr sz="2000">
                <a:solidFill>
                  <a:srgbClr val="E6E6F5"/>
                </a:solidFill>
              </a:defRPr>
            </a:pPr>
            <a:r>
              <a:t>Statistical rigor with effect sizes and multiple comparisons</a:t>
            </a:r>
          </a:p>
          <a:p>
            <a:pPr>
              <a:spcAft>
                <a:spcPts val="1400"/>
              </a:spcAft>
              <a:defRPr sz="2000">
                <a:solidFill>
                  <a:srgbClr val="E6E6F5"/>
                </a:solidFill>
              </a:defRPr>
            </a:pPr>
            <a:r>
              <a:t>Reproducible outputs, JSON results, and Markdown report generation</a:t>
            </a:r>
          </a:p>
          <a:p>
            <a:pPr>
              <a:spcAft>
                <a:spcPts val="1400"/>
              </a:spcAft>
              <a:defRPr sz="2000">
                <a:solidFill>
                  <a:srgbClr val="E6E6F5"/>
                </a:solidFill>
              </a:defRPr>
            </a:pPr>
            <a:r>
              <a:t>Extensible for real NIfTI/DICOM datasets</a:t>
            </a:r>
          </a:p>
        </p:txBody>
      </p:sp>
      <p:pic>
        <p:nvPicPr>
          <p:cNvPr id="4" name="Picture 3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554480"/>
            <a:ext cx="4754880" cy="374903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0F0FF"/>
                </a:solidFill>
              </a:defRPr>
            </a:pPr>
            <a:r>
              <a:t>Conclusion &amp;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1645920"/>
            <a:ext cx="91440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E6E6F5"/>
                </a:solidFill>
              </a:defRPr>
            </a:pPr>
            <a:r>
              <a:t>End-to-end pipeline for clinical + imaging data demonstrated successfully</a:t>
            </a:r>
          </a:p>
          <a:p>
            <a:pPr>
              <a:spcAft>
                <a:spcPts val="1400"/>
              </a:spcAft>
              <a:defRPr sz="2000">
                <a:solidFill>
                  <a:srgbClr val="E6E6F5"/>
                </a:solidFill>
              </a:defRPr>
            </a:pPr>
            <a:r>
              <a:t>Modular design supports diverse neuroimaging workflows</a:t>
            </a:r>
          </a:p>
          <a:p>
            <a:pPr>
              <a:spcAft>
                <a:spcPts val="1400"/>
              </a:spcAft>
              <a:defRPr sz="2000">
                <a:solidFill>
                  <a:srgbClr val="E6E6F5"/>
                </a:solidFill>
              </a:defRPr>
            </a:pPr>
            <a:r>
              <a:t>Future: real public dataset integration, EEG pipelines, deep learning models</a:t>
            </a:r>
          </a:p>
          <a:p>
            <a:pPr>
              <a:spcAft>
                <a:spcPts val="1400"/>
              </a:spcAft>
              <a:defRPr sz="2000">
                <a:solidFill>
                  <a:srgbClr val="E6E6F5"/>
                </a:solidFill>
              </a:defRPr>
            </a:pPr>
            <a:r>
              <a:t>Goal: bridge neuroscience research with AI-driven clinical insight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